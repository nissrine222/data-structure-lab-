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77" r:id="rId4"/>
    <p:sldId id="263" r:id="rId5"/>
    <p:sldId id="258" r:id="rId6"/>
    <p:sldId id="259" r:id="rId7"/>
    <p:sldId id="264" r:id="rId8"/>
    <p:sldId id="265" r:id="rId9"/>
    <p:sldId id="266" r:id="rId10"/>
    <p:sldId id="267" r:id="rId11"/>
    <p:sldId id="268" r:id="rId12"/>
    <p:sldId id="269" r:id="rId13"/>
    <p:sldId id="270" r:id="rId14"/>
    <p:sldId id="271" r:id="rId15"/>
    <p:sldId id="272" r:id="rId16"/>
    <p:sldId id="273" r:id="rId17"/>
    <p:sldId id="260" r:id="rId18"/>
    <p:sldId id="274" r:id="rId19"/>
    <p:sldId id="262"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D2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CF633E-1490-4919-9A14-B44AFA2E8D2A}" type="datetimeFigureOut">
              <a:rPr lang="en-US" smtClean="0"/>
              <a:t>12/8/2024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2DD2BA-957C-4C5C-AA23-27D6AD551D31}" type="slidenum">
              <a:rPr lang="en-US" smtClean="0"/>
              <a:t>‹#›</a:t>
            </a:fld>
            <a:endParaRPr lang="en-US"/>
          </a:p>
        </p:txBody>
      </p:sp>
    </p:spTree>
    <p:extLst>
      <p:ext uri="{BB962C8B-B14F-4D97-AF65-F5344CB8AC3E}">
        <p14:creationId xmlns:p14="http://schemas.microsoft.com/office/powerpoint/2010/main" val="2741610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82DD2BA-957C-4C5C-AA23-27D6AD551D31}" type="slidenum">
              <a:rPr lang="en-US" smtClean="0"/>
              <a:t>16</a:t>
            </a:fld>
            <a:endParaRPr lang="en-US"/>
          </a:p>
        </p:txBody>
      </p:sp>
    </p:spTree>
    <p:extLst>
      <p:ext uri="{BB962C8B-B14F-4D97-AF65-F5344CB8AC3E}">
        <p14:creationId xmlns:p14="http://schemas.microsoft.com/office/powerpoint/2010/main" val="329429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024CCA-BA60-4295-B9E6-00E39316EC25}"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1397290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024CCA-BA60-4295-B9E6-00E39316EC25}"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3551662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024CCA-BA60-4295-B9E6-00E39316EC25}"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4079515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4024CCA-BA60-4295-B9E6-00E39316EC25}"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2065364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024CCA-BA60-4295-B9E6-00E39316EC25}" type="datetimeFigureOut">
              <a:rPr lang="en-US" smtClean="0"/>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1726927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024CCA-BA60-4295-B9E6-00E39316EC25}" type="datetimeFigureOut">
              <a:rPr lang="en-US" smtClean="0"/>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3585622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024CCA-BA60-4295-B9E6-00E39316EC25}" type="datetimeFigureOut">
              <a:rPr lang="en-US" smtClean="0"/>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2820377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024CCA-BA60-4295-B9E6-00E39316EC25}"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433477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024CCA-BA60-4295-B9E6-00E39316EC25}"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335793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024CCA-BA60-4295-B9E6-00E39316EC25}"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3766916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024CCA-BA60-4295-B9E6-00E39316EC25}"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38EA25-448F-4C24-AACF-91F3179FFB86}" type="slidenum">
              <a:rPr lang="en-US" smtClean="0"/>
              <a:t>‹#›</a:t>
            </a:fld>
            <a:endParaRPr lang="en-US"/>
          </a:p>
        </p:txBody>
      </p:sp>
    </p:spTree>
    <p:extLst>
      <p:ext uri="{BB962C8B-B14F-4D97-AF65-F5344CB8AC3E}">
        <p14:creationId xmlns:p14="http://schemas.microsoft.com/office/powerpoint/2010/main" val="4181190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D2DE">
            <a:alpha val="61176"/>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024CCA-BA60-4295-B9E6-00E39316EC25}" type="datetimeFigureOut">
              <a:rPr lang="en-US" smtClean="0"/>
              <a:t>12/7/2024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8EA25-448F-4C24-AACF-91F3179FFB86}" type="slidenum">
              <a:rPr lang="en-US" smtClean="0"/>
              <a:t>‹#›</a:t>
            </a:fld>
            <a:endParaRPr lang="en-US"/>
          </a:p>
        </p:txBody>
      </p:sp>
    </p:spTree>
    <p:extLst>
      <p:ext uri="{BB962C8B-B14F-4D97-AF65-F5344CB8AC3E}">
        <p14:creationId xmlns:p14="http://schemas.microsoft.com/office/powerpoint/2010/main" val="1538388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38200" y="990600"/>
            <a:ext cx="7620000" cy="1905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600" b="1" cap="small" dirty="0" smtClean="0"/>
          </a:p>
          <a:p>
            <a:r>
              <a:rPr lang="en-US" sz="3600" b="1" cap="small" dirty="0" smtClean="0">
                <a:latin typeface="Andalus" pitchFamily="18" charset="-78"/>
                <a:cs typeface="Andalus" pitchFamily="18" charset="-78"/>
              </a:rPr>
              <a:t>Dataset </a:t>
            </a:r>
            <a:r>
              <a:rPr lang="en-US" sz="3600" b="1" cap="small" dirty="0">
                <a:latin typeface="Andalus" pitchFamily="18" charset="-78"/>
                <a:cs typeface="Andalus" pitchFamily="18" charset="-78"/>
              </a:rPr>
              <a:t>for Real-time sleep stage </a:t>
            </a:r>
            <a:r>
              <a:rPr lang="en-US" sz="3600" b="1" cap="small" dirty="0" smtClean="0">
                <a:latin typeface="Andalus" pitchFamily="18" charset="-78"/>
                <a:cs typeface="Andalus" pitchFamily="18" charset="-78"/>
              </a:rPr>
              <a:t>estimation </a:t>
            </a:r>
            <a:r>
              <a:rPr lang="en-US" sz="3600" b="1" cap="small" dirty="0">
                <a:latin typeface="Andalus" pitchFamily="18" charset="-78"/>
                <a:cs typeface="Andalus" pitchFamily="18" charset="-78"/>
              </a:rPr>
              <a:t>using </a:t>
            </a:r>
            <a:r>
              <a:rPr lang="en-US" sz="3600" b="1" cap="small" dirty="0" smtClean="0">
                <a:latin typeface="Andalus" pitchFamily="18" charset="-78"/>
                <a:cs typeface="Andalus" pitchFamily="18" charset="-78"/>
              </a:rPr>
              <a:t>multi sensor </a:t>
            </a:r>
            <a:r>
              <a:rPr lang="en-US" sz="3600" b="1" cap="small" dirty="0">
                <a:latin typeface="Andalus" pitchFamily="18" charset="-78"/>
                <a:cs typeface="Andalus" pitchFamily="18" charset="-78"/>
              </a:rPr>
              <a:t>wearable Technology</a:t>
            </a:r>
          </a:p>
          <a:p>
            <a:pPr algn="ctr"/>
            <a:endParaRPr lang="en-US" sz="3600" b="1" dirty="0">
              <a:latin typeface="Comic Sans MS"/>
            </a:endParaRPr>
          </a:p>
        </p:txBody>
      </p:sp>
      <p:sp>
        <p:nvSpPr>
          <p:cNvPr id="3" name="Rounded Rectangle 2"/>
          <p:cNvSpPr/>
          <p:nvPr/>
        </p:nvSpPr>
        <p:spPr>
          <a:xfrm>
            <a:off x="852791" y="3657600"/>
            <a:ext cx="7620000" cy="11684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Comic Sans MS"/>
              </a:rPr>
              <a:t>妮丝琳</a:t>
            </a:r>
            <a:endParaRPr lang="en-US" sz="2400" dirty="0" smtClean="0">
              <a:solidFill>
                <a:schemeClr val="tx1"/>
              </a:solidFill>
              <a:latin typeface="Comic Sans MS"/>
            </a:endParaRPr>
          </a:p>
          <a:p>
            <a:pPr algn="ctr"/>
            <a:r>
              <a:rPr lang="en-US" sz="2400" dirty="0" smtClean="0">
                <a:solidFill>
                  <a:schemeClr val="tx1"/>
                </a:solidFill>
                <a:latin typeface="Comic Sans MS"/>
              </a:rPr>
              <a:t>2023-12-08</a:t>
            </a:r>
          </a:p>
          <a:p>
            <a:pPr algn="ctr"/>
            <a:r>
              <a:rPr lang="en-US" sz="2400" dirty="0" smtClean="0">
                <a:solidFill>
                  <a:schemeClr val="tx1"/>
                </a:solidFill>
                <a:latin typeface="Comic Sans MS"/>
              </a:rPr>
              <a:t>Project Presentation</a:t>
            </a:r>
            <a:endParaRPr lang="en-US" sz="2400" dirty="0">
              <a:solidFill>
                <a:schemeClr val="tx1"/>
              </a:solidFill>
              <a:latin typeface="Comic Sans MS"/>
            </a:endParaRPr>
          </a:p>
        </p:txBody>
      </p:sp>
    </p:spTree>
    <p:extLst>
      <p:ext uri="{BB962C8B-B14F-4D97-AF65-F5344CB8AC3E}">
        <p14:creationId xmlns:p14="http://schemas.microsoft.com/office/powerpoint/2010/main" val="308260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63748" y="254000"/>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smtClean="0">
                <a:latin typeface="Comic Sans MS"/>
              </a:rPr>
              <a:t>Introduction</a:t>
            </a:r>
            <a:endParaRPr lang="en-US" sz="3200" b="1">
              <a:latin typeface="Comic Sans MS"/>
            </a:endParaRPr>
          </a:p>
        </p:txBody>
      </p:sp>
      <p:sp>
        <p:nvSpPr>
          <p:cNvPr id="3" name="Rounded Rectangle 2"/>
          <p:cNvSpPr/>
          <p:nvPr/>
        </p:nvSpPr>
        <p:spPr>
          <a:xfrm>
            <a:off x="196174" y="1371600"/>
            <a:ext cx="8890000" cy="38100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rPr>
              <a:t> </a:t>
            </a:r>
          </a:p>
          <a:p>
            <a:pPr marL="342900" indent="-342900">
              <a:buFont typeface="Arial" pitchFamily="34" charset="0"/>
              <a:buChar char="•"/>
            </a:pPr>
            <a:r>
              <a:rPr lang="en-US" sz="2000" dirty="0">
                <a:solidFill>
                  <a:schemeClr val="tx1"/>
                </a:solidFill>
              </a:rPr>
              <a:t> </a:t>
            </a:r>
            <a:r>
              <a:rPr lang="en-US" sz="2000" dirty="0" smtClean="0">
                <a:solidFill>
                  <a:schemeClr val="tx1"/>
                </a:solidFill>
              </a:rPr>
              <a:t>Sleep plays a vital role in our well-being, and advancements in wearable technology and machine learning are transforming how we track and understand it. This study leverages data from the DREAMT dataset, which includes high-resolution smart watch signals, expert-labeled sleep stages, and clinical information from 100 participants.</a:t>
            </a:r>
          </a:p>
          <a:p>
            <a:pPr marL="342900" indent="-342900">
              <a:buFont typeface="Arial" pitchFamily="34" charset="0"/>
              <a:buChar char="•"/>
            </a:pPr>
            <a:endParaRPr lang="en-US" sz="2000" dirty="0" smtClean="0">
              <a:solidFill>
                <a:schemeClr val="tx1"/>
              </a:solidFill>
            </a:endParaRPr>
          </a:p>
          <a:p>
            <a:pPr marL="342900" indent="-342900">
              <a:buFont typeface="Arial" pitchFamily="34" charset="0"/>
              <a:buChar char="•"/>
            </a:pPr>
            <a:r>
              <a:rPr lang="en-US" sz="2000" dirty="0" smtClean="0">
                <a:solidFill>
                  <a:schemeClr val="tx1"/>
                </a:solidFill>
              </a:rPr>
              <a:t>By analyzing metrics like heart rate variability, apnea events, and other vital statistics, we explored how sleep disorders affect overall health compared to individuals without such conditions. The goal is to uncover meaningful patterns and correlations that highlight the impact of sleep disorders on the body.</a:t>
            </a:r>
          </a:p>
          <a:p>
            <a:pPr marL="342900" indent="-342900">
              <a:buFont typeface="Arial" pitchFamily="34" charset="0"/>
              <a:buChar char="•"/>
            </a:pPr>
            <a:endParaRPr lang="en-US" sz="2000" dirty="0">
              <a:solidFill>
                <a:schemeClr val="tx1"/>
              </a:solidFill>
              <a:latin typeface="Comic Sans MS"/>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9323" y="5347259"/>
            <a:ext cx="2030378" cy="1436514"/>
          </a:xfrm>
          <a:prstGeom prst="rect">
            <a:avLst/>
          </a:prstGeom>
          <a:noFill/>
          <a:ln>
            <a:noFill/>
          </a:ln>
          <a:effectLst>
            <a:glow rad="139700">
              <a:schemeClr val="accent2">
                <a:satMod val="175000"/>
                <a:alpha val="40000"/>
              </a:schemeClr>
            </a:glow>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9798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8736" y="609600"/>
            <a:ext cx="4889500" cy="5741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5737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28081" y="1981200"/>
            <a:ext cx="8890000" cy="35814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Comic Sans MS"/>
              </a:rPr>
              <a:t> </a:t>
            </a:r>
            <a:r>
              <a:rPr lang="en-US" sz="2000" dirty="0" smtClean="0">
                <a:solidFill>
                  <a:schemeClr val="tx1"/>
                </a:solidFill>
                <a:latin typeface="Comic Sans MS"/>
              </a:rPr>
              <a:t> </a:t>
            </a:r>
          </a:p>
          <a:p>
            <a:r>
              <a:rPr lang="en-US" sz="2000" dirty="0" smtClean="0">
                <a:solidFill>
                  <a:schemeClr val="tx1"/>
                </a:solidFill>
                <a:latin typeface="Comic Sans MS"/>
              </a:rPr>
              <a:t> </a:t>
            </a:r>
            <a:r>
              <a:rPr lang="en-US" sz="2000" dirty="0" smtClean="0">
                <a:solidFill>
                  <a:schemeClr val="tx1"/>
                </a:solidFill>
              </a:rPr>
              <a:t>This study focuses on understanding the physiological correlates and sleep stage transitions in patients with obstructive sleep apnea (OSA). By analyzing metrics like BVP, HR, and EDA, captured using wearable devices such as the </a:t>
            </a:r>
            <a:r>
              <a:rPr lang="en-US" sz="2000" dirty="0" err="1" smtClean="0">
                <a:solidFill>
                  <a:schemeClr val="tx1"/>
                </a:solidFill>
              </a:rPr>
              <a:t>Empatica</a:t>
            </a:r>
            <a:r>
              <a:rPr lang="en-US" sz="2000" dirty="0" smtClean="0">
                <a:solidFill>
                  <a:schemeClr val="tx1"/>
                </a:solidFill>
              </a:rPr>
              <a:t> E4 wristband, the research aims to examine the effects of sleep disturbances on physiological patterns. It also explores how demographic factors influence these metrics in OSA populations. The ultimate goal is to integrate these insights into non-invasive, home-based diagnostic and monitoring systems for sleep disorders.</a:t>
            </a:r>
          </a:p>
          <a:p>
            <a:endParaRPr lang="en-US" sz="2000" dirty="0">
              <a:solidFill>
                <a:schemeClr val="tx1"/>
              </a:solidFill>
              <a:latin typeface="Comic Sans MS"/>
            </a:endParaRPr>
          </a:p>
        </p:txBody>
      </p:sp>
      <p:sp>
        <p:nvSpPr>
          <p:cNvPr id="3" name="Rounded Rectangle 2"/>
          <p:cNvSpPr/>
          <p:nvPr/>
        </p:nvSpPr>
        <p:spPr>
          <a:xfrm>
            <a:off x="152400" y="635000"/>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smtClean="0">
                <a:latin typeface="Comic Sans MS"/>
              </a:rPr>
              <a:t>Purpose of the study</a:t>
            </a:r>
            <a:endParaRPr lang="en-US" sz="3200" b="1" dirty="0">
              <a:latin typeface="Comic Sans MS"/>
            </a:endParaRPr>
          </a:p>
        </p:txBody>
      </p:sp>
    </p:spTree>
    <p:extLst>
      <p:ext uri="{BB962C8B-B14F-4D97-AF65-F5344CB8AC3E}">
        <p14:creationId xmlns:p14="http://schemas.microsoft.com/office/powerpoint/2010/main" val="3722194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52400" y="635000"/>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smtClean="0">
                <a:latin typeface="Comic Sans MS"/>
              </a:rPr>
              <a:t>Methodology</a:t>
            </a:r>
            <a:endParaRPr lang="en-US" sz="3200" b="1">
              <a:latin typeface="Comic Sans MS"/>
            </a:endParaRPr>
          </a:p>
        </p:txBody>
      </p:sp>
      <p:sp>
        <p:nvSpPr>
          <p:cNvPr id="3" name="Rounded Rectangle 2"/>
          <p:cNvSpPr/>
          <p:nvPr/>
        </p:nvSpPr>
        <p:spPr>
          <a:xfrm>
            <a:off x="152400" y="1600200"/>
            <a:ext cx="8890000" cy="50292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Comic Sans MS"/>
              </a:rPr>
              <a:t> </a:t>
            </a:r>
          </a:p>
          <a:p>
            <a:pPr marL="342900" indent="-342900">
              <a:buFont typeface="Arial" pitchFamily="34" charset="0"/>
              <a:buChar char="•"/>
            </a:pPr>
            <a:r>
              <a:rPr lang="en-US" sz="2000" dirty="0" smtClean="0">
                <a:solidFill>
                  <a:schemeClr val="tx1"/>
                </a:solidFill>
              </a:rPr>
              <a:t>In the methodology, I implemented a detailed data processing and analysis workflow to examine physiological signals from the sleep study. The process began by loading participant demographic and medical history data, addressing any missing values to ensure completeness. Physiological signals, recorded at varying intervals, were resampled to a consistent 15ms interval for alignment, with interpolation applied to fill in any gaps.</a:t>
            </a:r>
          </a:p>
          <a:p>
            <a:pPr marL="342900" indent="-342900">
              <a:buFont typeface="Arial" pitchFamily="34" charset="0"/>
              <a:buChar char="•"/>
            </a:pPr>
            <a:endParaRPr lang="en-US" sz="2000" dirty="0" smtClean="0">
              <a:solidFill>
                <a:schemeClr val="tx1"/>
              </a:solidFill>
            </a:endParaRPr>
          </a:p>
          <a:p>
            <a:pPr marL="342900" indent="-342900">
              <a:buFont typeface="Arial" pitchFamily="34" charset="0"/>
              <a:buChar char="•"/>
            </a:pPr>
            <a:r>
              <a:rPr lang="en-US" sz="2000" dirty="0" smtClean="0">
                <a:solidFill>
                  <a:schemeClr val="tx1"/>
                </a:solidFill>
              </a:rPr>
              <a:t>I calculated statistical summaries and created visualizations, such as time-series plots, to identify trends and variability in key metrics like heart rate (HR) and blood volume pulse (BVP). Group comparisons based on sleep disorders were conducted, revealing significant differences in metrics such as BMI and apnea-hypopnea index (AHI). A correlation </a:t>
            </a:r>
            <a:r>
              <a:rPr lang="en-US" sz="2000" dirty="0" err="1" smtClean="0">
                <a:solidFill>
                  <a:schemeClr val="tx1"/>
                </a:solidFill>
              </a:rPr>
              <a:t>heatmap</a:t>
            </a:r>
            <a:r>
              <a:rPr lang="en-US" sz="2000" dirty="0" smtClean="0">
                <a:solidFill>
                  <a:schemeClr val="tx1"/>
                </a:solidFill>
              </a:rPr>
              <a:t> was also generated to uncover relationships between physiological measures. All findings, visualizations, and processed data were organized in a dedicated output folder to facilitate reproducibility and further exploration.</a:t>
            </a:r>
          </a:p>
          <a:p>
            <a:endParaRPr lang="en-US" sz="2000" dirty="0">
              <a:solidFill>
                <a:schemeClr val="tx1"/>
              </a:solidFill>
              <a:latin typeface="Comic Sans MS"/>
            </a:endParaRPr>
          </a:p>
        </p:txBody>
      </p:sp>
    </p:spTree>
    <p:extLst>
      <p:ext uri="{BB962C8B-B14F-4D97-AF65-F5344CB8AC3E}">
        <p14:creationId xmlns:p14="http://schemas.microsoft.com/office/powerpoint/2010/main" val="3771415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52400" y="620409"/>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smtClean="0">
                <a:latin typeface="Comic Sans MS"/>
              </a:rPr>
              <a:t>Data Analysis</a:t>
            </a:r>
            <a:endParaRPr lang="en-US" sz="3200" b="1">
              <a:latin typeface="Comic Sans MS"/>
            </a:endParaRPr>
          </a:p>
        </p:txBody>
      </p:sp>
      <p:sp>
        <p:nvSpPr>
          <p:cNvPr id="3" name="Rounded Rectangle 2"/>
          <p:cNvSpPr/>
          <p:nvPr/>
        </p:nvSpPr>
        <p:spPr>
          <a:xfrm>
            <a:off x="129702" y="1890409"/>
            <a:ext cx="8890000" cy="38100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dirty="0" smtClean="0">
              <a:solidFill>
                <a:schemeClr val="tx1"/>
              </a:solidFill>
            </a:endParaRPr>
          </a:p>
          <a:p>
            <a:r>
              <a:rPr lang="en-US" sz="2000" dirty="0">
                <a:solidFill>
                  <a:schemeClr val="tx1"/>
                </a:solidFill>
              </a:rPr>
              <a:t> </a:t>
            </a:r>
            <a:r>
              <a:rPr lang="en-US" sz="2000" dirty="0" smtClean="0">
                <a:solidFill>
                  <a:schemeClr val="tx1"/>
                </a:solidFill>
              </a:rPr>
              <a:t> The analysis shed light on the impact of sleep-disordered breathing on the body. Severe apnea was linked to irregular heartbeats, signaling disrupted cardiac activity during sleep. Skin temperature remained steady but increased slightly during REM sleep, reflecting possible metabolic shifts. Obstructive apnea was much more common than central apnea, matching typical sleep apnea trends. Participants with frequent apnea events showed elevated heart rates afterward, highlighting the strain these episodes place on the heart. These findings emphasize the significant effects of sleep apnea on cardiovascular health and the body’s automatic responses.</a:t>
            </a:r>
          </a:p>
          <a:p>
            <a:endParaRPr lang="en-US" sz="2000" dirty="0">
              <a:latin typeface="Comic Sans MS"/>
            </a:endParaRPr>
          </a:p>
        </p:txBody>
      </p:sp>
    </p:spTree>
    <p:extLst>
      <p:ext uri="{BB962C8B-B14F-4D97-AF65-F5344CB8AC3E}">
        <p14:creationId xmlns:p14="http://schemas.microsoft.com/office/powerpoint/2010/main" val="2455728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AppData\Local\Temp\Rar$DRa21984.41876\data project\output\comparison_sleep_disorders.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533400"/>
            <a:ext cx="8229599" cy="5867400"/>
          </a:xfrm>
          <a:prstGeom prst="rect">
            <a:avLst/>
          </a:prstGeom>
          <a:noFill/>
          <a:ln>
            <a:noFill/>
          </a:ln>
        </p:spPr>
      </p:pic>
    </p:spTree>
    <p:extLst>
      <p:ext uri="{BB962C8B-B14F-4D97-AF65-F5344CB8AC3E}">
        <p14:creationId xmlns:p14="http://schemas.microsoft.com/office/powerpoint/2010/main" val="1411129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27000" y="762000"/>
            <a:ext cx="8890000" cy="53340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Comic Sans MS"/>
              </a:rPr>
              <a:t> </a:t>
            </a:r>
          </a:p>
          <a:p>
            <a:r>
              <a:rPr lang="en-US" sz="2000" dirty="0" smtClean="0">
                <a:solidFill>
                  <a:schemeClr val="tx1"/>
                </a:solidFill>
              </a:rPr>
              <a:t> The bar graph compares average physiological and demographic metrics across different sleep disorder groups, highlighting key differences. Metrics such as age, BMI, apnea-hypopnea index (AHI), oxygen desaturation index (Mean SaO2), and arousal index were analyzed.</a:t>
            </a:r>
          </a:p>
          <a:p>
            <a:r>
              <a:rPr lang="en-US" sz="2000" dirty="0" smtClean="0">
                <a:solidFill>
                  <a:schemeClr val="tx1"/>
                </a:solidFill>
              </a:rPr>
              <a:t>Key findings include:</a:t>
            </a:r>
          </a:p>
          <a:p>
            <a:pPr marL="342900" indent="-342900">
              <a:buFont typeface="Arial" pitchFamily="34" charset="0"/>
              <a:buChar char="•"/>
            </a:pPr>
            <a:r>
              <a:rPr lang="en-US" sz="2000" dirty="0" smtClean="0">
                <a:solidFill>
                  <a:schemeClr val="tx1"/>
                </a:solidFill>
              </a:rPr>
              <a:t>Participants with obstructive sleep apnea show higher BMI values, reflecting a strong link between obesity and the disorder.</a:t>
            </a:r>
          </a:p>
          <a:p>
            <a:pPr marL="342900" indent="-342900">
              <a:buFont typeface="Arial" pitchFamily="34" charset="0"/>
              <a:buChar char="•"/>
            </a:pPr>
            <a:r>
              <a:rPr lang="en-US" sz="2000" dirty="0" smtClean="0">
                <a:solidFill>
                  <a:schemeClr val="tx1"/>
                </a:solidFill>
              </a:rPr>
              <a:t>Mean SaO2 levels are lower in sleep apnea groups, indicating more severe oxygen desaturation during sleep.</a:t>
            </a:r>
          </a:p>
          <a:p>
            <a:pPr marL="342900" indent="-342900">
              <a:buFont typeface="Arial" pitchFamily="34" charset="0"/>
              <a:buChar char="•"/>
            </a:pPr>
            <a:r>
              <a:rPr lang="en-US" sz="2000" dirty="0" smtClean="0">
                <a:solidFill>
                  <a:schemeClr val="tx1"/>
                </a:solidFill>
              </a:rPr>
              <a:t>The arousal index is highest in those with central sleep apnea, pointing to frequent sleep interruptions.</a:t>
            </a:r>
          </a:p>
          <a:p>
            <a:pPr marL="342900" indent="-342900">
              <a:buFont typeface="Arial" pitchFamily="34" charset="0"/>
              <a:buChar char="•"/>
            </a:pPr>
            <a:r>
              <a:rPr lang="en-US" sz="2000" dirty="0" smtClean="0">
                <a:solidFill>
                  <a:schemeClr val="tx1"/>
                </a:solidFill>
              </a:rPr>
              <a:t>Age variations suggest differing risk profiles, with older participants being more prone to sleep apnea.</a:t>
            </a:r>
          </a:p>
          <a:p>
            <a:r>
              <a:rPr lang="en-US" sz="2000" dirty="0" smtClean="0">
                <a:solidFill>
                  <a:schemeClr val="tx1"/>
                </a:solidFill>
              </a:rPr>
              <a:t>This analysis emphasizes the physiological impacts of sleep disorders and offers insights into how these conditions affect health metrics, laying the groundwork for further investigation.</a:t>
            </a:r>
          </a:p>
          <a:p>
            <a:endParaRPr lang="en-US" sz="2000" dirty="0">
              <a:solidFill>
                <a:schemeClr val="tx1"/>
              </a:solidFill>
              <a:latin typeface="Comic Sans MS"/>
            </a:endParaRPr>
          </a:p>
        </p:txBody>
      </p:sp>
    </p:spTree>
    <p:extLst>
      <p:ext uri="{BB962C8B-B14F-4D97-AF65-F5344CB8AC3E}">
        <p14:creationId xmlns:p14="http://schemas.microsoft.com/office/powerpoint/2010/main" val="2874184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AppData\Local\Temp\Rar$DRa21984.27230\data project\output\correlation_heatmap.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533400"/>
            <a:ext cx="6487478" cy="5831205"/>
          </a:xfrm>
          <a:prstGeom prst="rect">
            <a:avLst/>
          </a:prstGeom>
          <a:noFill/>
          <a:ln>
            <a:noFill/>
          </a:ln>
        </p:spPr>
      </p:pic>
    </p:spTree>
    <p:extLst>
      <p:ext uri="{BB962C8B-B14F-4D97-AF65-F5344CB8AC3E}">
        <p14:creationId xmlns:p14="http://schemas.microsoft.com/office/powerpoint/2010/main" val="1316543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27000" y="914400"/>
            <a:ext cx="8890000" cy="48768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Comic Sans MS"/>
              </a:rPr>
              <a:t>   </a:t>
            </a:r>
            <a:r>
              <a:rPr lang="en-US" sz="2000" dirty="0" smtClean="0">
                <a:solidFill>
                  <a:schemeClr val="tx1"/>
                </a:solidFill>
              </a:rPr>
              <a:t>The correlation </a:t>
            </a:r>
            <a:r>
              <a:rPr lang="en-US" sz="2000" dirty="0" err="1" smtClean="0">
                <a:solidFill>
                  <a:schemeClr val="tx1"/>
                </a:solidFill>
              </a:rPr>
              <a:t>heatmap</a:t>
            </a:r>
            <a:r>
              <a:rPr lang="en-US" sz="2000" dirty="0" smtClean="0">
                <a:solidFill>
                  <a:schemeClr val="tx1"/>
                </a:solidFill>
              </a:rPr>
              <a:t> illustrates the relationships between various physiological and demographic variables, providing insights into their interconnections. It was created by calculating correlation coefficients between metrics like AGE, BMI, OAHI, AHI, Arousal Index, IBI, and BVP. </a:t>
            </a:r>
          </a:p>
          <a:p>
            <a:r>
              <a:rPr lang="en-US" b="1" dirty="0" smtClean="0">
                <a:solidFill>
                  <a:schemeClr val="tx1"/>
                </a:solidFill>
              </a:rPr>
              <a:t>Key Relationships:</a:t>
            </a:r>
          </a:p>
          <a:p>
            <a:r>
              <a:rPr lang="en-US" b="1" dirty="0" smtClean="0">
                <a:solidFill>
                  <a:schemeClr val="tx1"/>
                </a:solidFill>
              </a:rPr>
              <a:t>Moderate to Strong Positive Correlations:</a:t>
            </a:r>
            <a:endParaRPr lang="en-US" dirty="0" smtClean="0">
              <a:solidFill>
                <a:schemeClr val="tx1"/>
              </a:solidFill>
            </a:endParaRPr>
          </a:p>
          <a:p>
            <a:pPr marL="742950" lvl="1" indent="-285750">
              <a:buFont typeface="Arial" pitchFamily="34" charset="0"/>
              <a:buChar char="•"/>
            </a:pPr>
            <a:r>
              <a:rPr lang="en-US" b="1" dirty="0" smtClean="0">
                <a:solidFill>
                  <a:schemeClr val="tx1"/>
                </a:solidFill>
              </a:rPr>
              <a:t>BMI and OAHI (0.46):</a:t>
            </a:r>
            <a:r>
              <a:rPr lang="en-US" dirty="0" smtClean="0">
                <a:solidFill>
                  <a:schemeClr val="tx1"/>
                </a:solidFill>
              </a:rPr>
              <a:t> Individuals with higher BMI are more likely to experience more obstructive sleep apnea events.</a:t>
            </a:r>
          </a:p>
          <a:p>
            <a:pPr marL="742950" lvl="1" indent="-285750">
              <a:buFont typeface="Arial" pitchFamily="34" charset="0"/>
              <a:buChar char="•"/>
            </a:pPr>
            <a:r>
              <a:rPr lang="en-US" b="1" dirty="0" smtClean="0">
                <a:solidFill>
                  <a:schemeClr val="tx1"/>
                </a:solidFill>
              </a:rPr>
              <a:t>OAHI and AHI (0.97):</a:t>
            </a:r>
            <a:r>
              <a:rPr lang="en-US" dirty="0" smtClean="0">
                <a:solidFill>
                  <a:schemeClr val="tx1"/>
                </a:solidFill>
              </a:rPr>
              <a:t> These indices, both measuring apnea severity, are nearly identical, showing a very strong correlation.</a:t>
            </a:r>
          </a:p>
          <a:p>
            <a:pPr marL="742950" lvl="1" indent="-285750">
              <a:buFont typeface="Arial" pitchFamily="34" charset="0"/>
              <a:buChar char="•"/>
            </a:pPr>
            <a:r>
              <a:rPr lang="en-US" b="1" dirty="0" smtClean="0">
                <a:solidFill>
                  <a:schemeClr val="tx1"/>
                </a:solidFill>
              </a:rPr>
              <a:t>OAHI and Arousal Index (0.51):</a:t>
            </a:r>
            <a:r>
              <a:rPr lang="en-US" dirty="0" smtClean="0">
                <a:solidFill>
                  <a:schemeClr val="tx1"/>
                </a:solidFill>
              </a:rPr>
              <a:t> More obstructive apnea events are linked to higher sleep disturbances, reflected by increased arousals.</a:t>
            </a:r>
          </a:p>
          <a:p>
            <a:pPr marL="742950" lvl="1" indent="-285750">
              <a:buFont typeface="Arial" pitchFamily="34" charset="0"/>
              <a:buChar char="•"/>
            </a:pPr>
            <a:r>
              <a:rPr lang="en-US" b="1" dirty="0" smtClean="0">
                <a:solidFill>
                  <a:schemeClr val="tx1"/>
                </a:solidFill>
              </a:rPr>
              <a:t>AHI and Arousal Index (0.56):</a:t>
            </a:r>
            <a:r>
              <a:rPr lang="en-US" dirty="0" smtClean="0">
                <a:solidFill>
                  <a:schemeClr val="tx1"/>
                </a:solidFill>
              </a:rPr>
              <a:t> Severe apnea correlates with more frequent arousals during sleep.</a:t>
            </a:r>
          </a:p>
          <a:p>
            <a:pPr marL="742950" lvl="1" indent="-285750">
              <a:buFont typeface="Arial" pitchFamily="34" charset="0"/>
              <a:buChar char="•"/>
            </a:pPr>
            <a:r>
              <a:rPr lang="en-US" b="1" dirty="0" smtClean="0">
                <a:solidFill>
                  <a:schemeClr val="tx1"/>
                </a:solidFill>
              </a:rPr>
              <a:t>BMI and AHI (0.42):</a:t>
            </a:r>
            <a:r>
              <a:rPr lang="en-US" dirty="0" smtClean="0">
                <a:solidFill>
                  <a:schemeClr val="tx1"/>
                </a:solidFill>
              </a:rPr>
              <a:t> Higher BMI is associated with more apnea-hypopnea events.</a:t>
            </a:r>
          </a:p>
        </p:txBody>
      </p:sp>
    </p:spTree>
    <p:extLst>
      <p:ext uri="{BB962C8B-B14F-4D97-AF65-F5344CB8AC3E}">
        <p14:creationId xmlns:p14="http://schemas.microsoft.com/office/powerpoint/2010/main" val="4173999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4566" y="844685"/>
            <a:ext cx="8890000" cy="48006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Comic Sans MS"/>
              </a:rPr>
              <a:t> </a:t>
            </a:r>
          </a:p>
          <a:p>
            <a:r>
              <a:rPr lang="en-US" b="1" dirty="0" smtClean="0">
                <a:solidFill>
                  <a:schemeClr val="tx1"/>
                </a:solidFill>
              </a:rPr>
              <a:t>Weak or Minimal Correlations:</a:t>
            </a:r>
            <a:endParaRPr lang="en-US" dirty="0" smtClean="0">
              <a:solidFill>
                <a:schemeClr val="tx1"/>
              </a:solidFill>
            </a:endParaRPr>
          </a:p>
          <a:p>
            <a:pPr marL="742950" lvl="1" indent="-285750">
              <a:buFont typeface="Arial" pitchFamily="34" charset="0"/>
              <a:buChar char="•"/>
            </a:pPr>
            <a:r>
              <a:rPr lang="en-US" b="1" dirty="0" smtClean="0">
                <a:solidFill>
                  <a:schemeClr val="tx1"/>
                </a:solidFill>
              </a:rPr>
              <a:t>AGE and BMI (-0.35):</a:t>
            </a:r>
            <a:r>
              <a:rPr lang="en-US" dirty="0" smtClean="0">
                <a:solidFill>
                  <a:schemeClr val="tx1"/>
                </a:solidFill>
              </a:rPr>
              <a:t> Slight inverse relationship, indicating BMI tends to decrease slightly with age, though not strongly.</a:t>
            </a:r>
          </a:p>
          <a:p>
            <a:pPr marL="742950" lvl="1" indent="-285750">
              <a:buFont typeface="Arial" pitchFamily="34" charset="0"/>
              <a:buChar char="•"/>
            </a:pPr>
            <a:r>
              <a:rPr lang="en-US" b="1" dirty="0" smtClean="0">
                <a:solidFill>
                  <a:schemeClr val="tx1"/>
                </a:solidFill>
              </a:rPr>
              <a:t>AGE and OAHI (-0.11), AGE and AHI (-0.05):</a:t>
            </a:r>
            <a:r>
              <a:rPr lang="en-US" dirty="0" smtClean="0">
                <a:solidFill>
                  <a:schemeClr val="tx1"/>
                </a:solidFill>
              </a:rPr>
              <a:t> Minimal impact of age on apnea indices.</a:t>
            </a:r>
          </a:p>
          <a:p>
            <a:pPr marL="742950" lvl="1" indent="-285750">
              <a:buFont typeface="Arial" pitchFamily="34" charset="0"/>
              <a:buChar char="•"/>
            </a:pPr>
            <a:r>
              <a:rPr lang="en-US" b="1" dirty="0" smtClean="0">
                <a:solidFill>
                  <a:schemeClr val="tx1"/>
                </a:solidFill>
              </a:rPr>
              <a:t>AGE and Arousal Index (0.16):</a:t>
            </a:r>
            <a:r>
              <a:rPr lang="en-US" dirty="0" smtClean="0">
                <a:solidFill>
                  <a:schemeClr val="tx1"/>
                </a:solidFill>
              </a:rPr>
              <a:t> Weak positive correlation, showing minimal influence of age on arousals.</a:t>
            </a:r>
          </a:p>
          <a:p>
            <a:pPr marL="742950" lvl="1" indent="-285750">
              <a:buFont typeface="Arial" pitchFamily="34" charset="0"/>
              <a:buChar char="•"/>
            </a:pPr>
            <a:r>
              <a:rPr lang="en-US" b="1" dirty="0" smtClean="0">
                <a:solidFill>
                  <a:schemeClr val="tx1"/>
                </a:solidFill>
              </a:rPr>
              <a:t>BMI and Arousal Index (-0.00):</a:t>
            </a:r>
            <a:r>
              <a:rPr lang="en-US" dirty="0" smtClean="0">
                <a:solidFill>
                  <a:schemeClr val="tx1"/>
                </a:solidFill>
              </a:rPr>
              <a:t> Virtually no relationship between BMI and arousals.</a:t>
            </a:r>
          </a:p>
          <a:p>
            <a:r>
              <a:rPr lang="en-US" dirty="0" smtClean="0">
                <a:solidFill>
                  <a:schemeClr val="tx1"/>
                </a:solidFill>
              </a:rPr>
              <a:t>These findings highlight key factors like BMI and apnea indices as significant contributors to sleep disturbances, while age plays a less significant role in this dataset.</a:t>
            </a:r>
          </a:p>
          <a:p>
            <a:endParaRPr lang="en-US" b="1" dirty="0" smtClean="0">
              <a:solidFill>
                <a:schemeClr val="tx1"/>
              </a:solidFill>
            </a:endParaRPr>
          </a:p>
          <a:p>
            <a:endParaRPr lang="en-US" sz="2000" dirty="0" smtClean="0">
              <a:solidFill>
                <a:schemeClr val="tx1"/>
              </a:solidFill>
            </a:endParaRPr>
          </a:p>
        </p:txBody>
      </p:sp>
    </p:spTree>
    <p:extLst>
      <p:ext uri="{BB962C8B-B14F-4D97-AF65-F5344CB8AC3E}">
        <p14:creationId xmlns:p14="http://schemas.microsoft.com/office/powerpoint/2010/main" val="427505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AppData\Local\Temp\Rar$DRa21984.18863\data project\output\S002_whole_df.csv_BVP.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687421"/>
            <a:ext cx="8077200" cy="5355077"/>
          </a:xfrm>
          <a:prstGeom prst="rect">
            <a:avLst/>
          </a:prstGeom>
          <a:noFill/>
          <a:ln>
            <a:noFill/>
          </a:ln>
        </p:spPr>
      </p:pic>
    </p:spTree>
    <p:extLst>
      <p:ext uri="{BB962C8B-B14F-4D97-AF65-F5344CB8AC3E}">
        <p14:creationId xmlns:p14="http://schemas.microsoft.com/office/powerpoint/2010/main" val="390732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4566" y="1371600"/>
            <a:ext cx="8890000" cy="3664085"/>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latin typeface="Comic Sans MS"/>
              </a:rPr>
              <a:t> </a:t>
            </a:r>
          </a:p>
          <a:p>
            <a:r>
              <a:rPr lang="en-US" sz="2000" b="1" dirty="0" smtClean="0">
                <a:solidFill>
                  <a:schemeClr val="tx1"/>
                </a:solidFill>
              </a:rPr>
              <a:t>Trends </a:t>
            </a:r>
            <a:r>
              <a:rPr lang="en-US" sz="2000" b="1" dirty="0">
                <a:solidFill>
                  <a:schemeClr val="tx1"/>
                </a:solidFill>
              </a:rPr>
              <a:t>in BVP over Time</a:t>
            </a:r>
            <a:r>
              <a:rPr lang="en-US" sz="2000" dirty="0">
                <a:solidFill>
                  <a:schemeClr val="tx1"/>
                </a:solidFill>
              </a:rPr>
              <a:t>:</a:t>
            </a:r>
          </a:p>
          <a:p>
            <a:pPr lvl="0"/>
            <a:r>
              <a:rPr lang="en-US" sz="2000" dirty="0" smtClean="0">
                <a:solidFill>
                  <a:schemeClr val="tx1"/>
                </a:solidFill>
              </a:rPr>
              <a:t>In </a:t>
            </a:r>
            <a:r>
              <a:rPr lang="en-US" sz="2000" b="1" dirty="0">
                <a:solidFill>
                  <a:schemeClr val="tx1"/>
                </a:solidFill>
              </a:rPr>
              <a:t>BVP over time</a:t>
            </a:r>
            <a:r>
              <a:rPr lang="en-US" sz="2000" dirty="0">
                <a:solidFill>
                  <a:schemeClr val="tx1"/>
                </a:solidFill>
              </a:rPr>
              <a:t> plots for participants with severe obstructive sleep apnea, significant </a:t>
            </a:r>
            <a:r>
              <a:rPr lang="en-US" sz="2000" b="1" dirty="0">
                <a:solidFill>
                  <a:schemeClr val="tx1"/>
                </a:solidFill>
              </a:rPr>
              <a:t>spikes and dips</a:t>
            </a:r>
            <a:r>
              <a:rPr lang="en-US" sz="2000" dirty="0">
                <a:solidFill>
                  <a:schemeClr val="tx1"/>
                </a:solidFill>
              </a:rPr>
              <a:t> in BVP are observed, particularly during periods of apnea (usually accompanied by a sharp rise in HR). These fluctuations indicate changes in blood volume due to interruptions in respiration. Conversely, participants without sleep apnea show much </a:t>
            </a:r>
            <a:r>
              <a:rPr lang="en-US" sz="2000" b="1" dirty="0">
                <a:solidFill>
                  <a:schemeClr val="tx1"/>
                </a:solidFill>
              </a:rPr>
              <a:t>more stable BVP values</a:t>
            </a:r>
            <a:r>
              <a:rPr lang="en-US" sz="2000" dirty="0">
                <a:solidFill>
                  <a:schemeClr val="tx1"/>
                </a:solidFill>
              </a:rPr>
              <a:t>, suggesting regular autonomic function during sleep</a:t>
            </a:r>
            <a:r>
              <a:rPr lang="en-US" sz="2000" dirty="0" smtClean="0">
                <a:solidFill>
                  <a:schemeClr val="tx1"/>
                </a:solidFill>
              </a:rPr>
              <a:t>.</a:t>
            </a:r>
            <a:endParaRPr lang="en-US" sz="2000" dirty="0">
              <a:solidFill>
                <a:schemeClr val="tx1"/>
              </a:solidFill>
            </a:endParaRPr>
          </a:p>
          <a:p>
            <a:endParaRPr lang="en-US" sz="2000" dirty="0" smtClean="0">
              <a:solidFill>
                <a:schemeClr val="tx1"/>
              </a:solidFill>
            </a:endParaRPr>
          </a:p>
        </p:txBody>
      </p:sp>
    </p:spTree>
    <p:extLst>
      <p:ext uri="{BB962C8B-B14F-4D97-AF65-F5344CB8AC3E}">
        <p14:creationId xmlns:p14="http://schemas.microsoft.com/office/powerpoint/2010/main" val="2668712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lenovo\AppData\Local\Temp\Rar$DRa21984.2579\data project\output\S002_whole_df.csv_HR.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703634"/>
            <a:ext cx="8001000" cy="5334000"/>
          </a:xfrm>
          <a:prstGeom prst="rect">
            <a:avLst/>
          </a:prstGeom>
          <a:noFill/>
          <a:ln>
            <a:noFill/>
          </a:ln>
        </p:spPr>
      </p:pic>
    </p:spTree>
    <p:extLst>
      <p:ext uri="{BB962C8B-B14F-4D97-AF65-F5344CB8AC3E}">
        <p14:creationId xmlns:p14="http://schemas.microsoft.com/office/powerpoint/2010/main" val="4094201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4566" y="1371600"/>
            <a:ext cx="8890000" cy="3664085"/>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Comic Sans MS"/>
              </a:rPr>
              <a:t> </a:t>
            </a:r>
            <a:r>
              <a:rPr lang="en-US" sz="2000" b="1" dirty="0">
                <a:solidFill>
                  <a:schemeClr val="tx1"/>
                </a:solidFill>
              </a:rPr>
              <a:t>Trends in HR over Time</a:t>
            </a:r>
            <a:r>
              <a:rPr lang="en-US" sz="2000" dirty="0">
                <a:solidFill>
                  <a:schemeClr val="tx1"/>
                </a:solidFill>
              </a:rPr>
              <a:t>:</a:t>
            </a:r>
          </a:p>
          <a:p>
            <a:pPr lvl="0"/>
            <a:r>
              <a:rPr lang="en-US" sz="2000" dirty="0" smtClean="0">
                <a:solidFill>
                  <a:schemeClr val="tx1"/>
                </a:solidFill>
              </a:rPr>
              <a:t>For </a:t>
            </a:r>
            <a:r>
              <a:rPr lang="en-US" sz="2000" b="1" dirty="0">
                <a:solidFill>
                  <a:schemeClr val="tx1"/>
                </a:solidFill>
              </a:rPr>
              <a:t>HR over time</a:t>
            </a:r>
            <a:r>
              <a:rPr lang="en-US" sz="2000" dirty="0">
                <a:solidFill>
                  <a:schemeClr val="tx1"/>
                </a:solidFill>
              </a:rPr>
              <a:t>, participants with severe sleep apnea show </a:t>
            </a:r>
            <a:r>
              <a:rPr lang="en-US" sz="2000" b="1" dirty="0">
                <a:solidFill>
                  <a:schemeClr val="tx1"/>
                </a:solidFill>
              </a:rPr>
              <a:t>rapid increases in heart rate</a:t>
            </a:r>
            <a:r>
              <a:rPr lang="en-US" sz="2000" dirty="0">
                <a:solidFill>
                  <a:schemeClr val="tx1"/>
                </a:solidFill>
              </a:rPr>
              <a:t> after apnea events, indicating a compensatory response to oxygen deprivation. In contrast, participants with no sleep disorders exhibit a </a:t>
            </a:r>
            <a:r>
              <a:rPr lang="en-US" sz="2000" b="1" dirty="0">
                <a:solidFill>
                  <a:schemeClr val="tx1"/>
                </a:solidFill>
              </a:rPr>
              <a:t>relatively stable HR</a:t>
            </a:r>
            <a:r>
              <a:rPr lang="en-US" sz="2000" dirty="0">
                <a:solidFill>
                  <a:schemeClr val="tx1"/>
                </a:solidFill>
              </a:rPr>
              <a:t> throughout the night. In general, </a:t>
            </a:r>
            <a:r>
              <a:rPr lang="en-US" sz="2000" b="1" dirty="0">
                <a:solidFill>
                  <a:schemeClr val="tx1"/>
                </a:solidFill>
              </a:rPr>
              <a:t>HR spikes</a:t>
            </a:r>
            <a:r>
              <a:rPr lang="en-US" sz="2000" dirty="0">
                <a:solidFill>
                  <a:schemeClr val="tx1"/>
                </a:solidFill>
              </a:rPr>
              <a:t> coincide with periods of arousal, while </a:t>
            </a:r>
            <a:r>
              <a:rPr lang="en-US" sz="2000" b="1" dirty="0">
                <a:solidFill>
                  <a:schemeClr val="tx1"/>
                </a:solidFill>
              </a:rPr>
              <a:t>stable HR levels</a:t>
            </a:r>
            <a:r>
              <a:rPr lang="en-US" sz="2000" dirty="0">
                <a:solidFill>
                  <a:schemeClr val="tx1"/>
                </a:solidFill>
              </a:rPr>
              <a:t> are observed during non-REM sleep stages</a:t>
            </a:r>
            <a:r>
              <a:rPr lang="en-US" sz="2000" dirty="0" smtClean="0">
                <a:solidFill>
                  <a:schemeClr val="tx1"/>
                </a:solidFill>
              </a:rPr>
              <a:t>.</a:t>
            </a:r>
            <a:endParaRPr lang="en-US" sz="2000" dirty="0">
              <a:solidFill>
                <a:schemeClr val="tx1"/>
              </a:solidFill>
            </a:endParaRPr>
          </a:p>
          <a:p>
            <a:endParaRPr lang="en-US" sz="2000" dirty="0" smtClean="0">
              <a:solidFill>
                <a:schemeClr val="tx1"/>
              </a:solidFill>
              <a:latin typeface="Comic Sans MS"/>
            </a:endParaRPr>
          </a:p>
        </p:txBody>
      </p:sp>
    </p:spTree>
    <p:extLst>
      <p:ext uri="{BB962C8B-B14F-4D97-AF65-F5344CB8AC3E}">
        <p14:creationId xmlns:p14="http://schemas.microsoft.com/office/powerpoint/2010/main" val="2276889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4566" y="1371600"/>
            <a:ext cx="8890000" cy="3664085"/>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smtClean="0">
                <a:solidFill>
                  <a:schemeClr val="tx1"/>
                </a:solidFill>
                <a:latin typeface="Comic Sans MS"/>
              </a:rPr>
              <a:t> </a:t>
            </a:r>
            <a:r>
              <a:rPr lang="en-US" sz="2000" dirty="0" smtClean="0">
                <a:solidFill>
                  <a:schemeClr val="tx1"/>
                </a:solidFill>
              </a:rPr>
              <a:t>To </a:t>
            </a:r>
            <a:r>
              <a:rPr lang="en-US" sz="2000" dirty="0">
                <a:solidFill>
                  <a:schemeClr val="tx1"/>
                </a:solidFill>
              </a:rPr>
              <a:t>complement the visual analysis of time-series data for BVP and HR, </a:t>
            </a:r>
            <a:r>
              <a:rPr lang="en-US" sz="2000" dirty="0" smtClean="0">
                <a:solidFill>
                  <a:schemeClr val="tx1"/>
                </a:solidFill>
              </a:rPr>
              <a:t>I performed </a:t>
            </a:r>
            <a:r>
              <a:rPr lang="en-US" sz="2000" dirty="0">
                <a:solidFill>
                  <a:schemeClr val="tx1"/>
                </a:solidFill>
              </a:rPr>
              <a:t>statistical calculations to quantify the trends, variability, and relationships within the data. Key statistics such as mean values, standard deviations, and correlations were computed to understand overall patterns and individual differences across participants.</a:t>
            </a:r>
          </a:p>
          <a:p>
            <a:endParaRPr lang="en-US" sz="2000" dirty="0" smtClean="0">
              <a:solidFill>
                <a:schemeClr val="tx1"/>
              </a:solidFill>
              <a:latin typeface="Comic Sans MS"/>
            </a:endParaRPr>
          </a:p>
        </p:txBody>
      </p:sp>
    </p:spTree>
    <p:extLst>
      <p:ext uri="{BB962C8B-B14F-4D97-AF65-F5344CB8AC3E}">
        <p14:creationId xmlns:p14="http://schemas.microsoft.com/office/powerpoint/2010/main" val="3893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1323" y="639864"/>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smtClean="0">
                <a:latin typeface="Comic Sans MS"/>
              </a:rPr>
              <a:t>Findings</a:t>
            </a:r>
            <a:endParaRPr lang="en-US" sz="3200" b="1">
              <a:latin typeface="Comic Sans MS"/>
            </a:endParaRPr>
          </a:p>
        </p:txBody>
      </p:sp>
      <p:sp>
        <p:nvSpPr>
          <p:cNvPr id="3" name="Rounded Rectangle 2"/>
          <p:cNvSpPr/>
          <p:nvPr/>
        </p:nvSpPr>
        <p:spPr>
          <a:xfrm>
            <a:off x="131323" y="1600200"/>
            <a:ext cx="8890000" cy="41148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schemeClr val="tx1"/>
              </a:solidFill>
            </a:endParaRPr>
          </a:p>
          <a:p>
            <a:r>
              <a:rPr lang="en-US" dirty="0" smtClean="0">
                <a:solidFill>
                  <a:schemeClr val="tx1"/>
                </a:solidFill>
              </a:rPr>
              <a:t>The analysis uncovered significant physiological and demographic patterns in the dataset:</a:t>
            </a:r>
          </a:p>
          <a:p>
            <a:pPr marL="342900" indent="-342900">
              <a:buFont typeface="+mj-lt"/>
              <a:buAutoNum type="arabicPeriod"/>
            </a:pPr>
            <a:r>
              <a:rPr lang="en-US" b="1" dirty="0" smtClean="0">
                <a:solidFill>
                  <a:schemeClr val="tx1"/>
                </a:solidFill>
              </a:rPr>
              <a:t>Cardiovascular and Blood Flow Metrics:</a:t>
            </a:r>
            <a:endParaRPr lang="en-US" dirty="0" smtClean="0">
              <a:solidFill>
                <a:schemeClr val="tx1"/>
              </a:solidFill>
            </a:endParaRPr>
          </a:p>
          <a:p>
            <a:pPr marL="742950" lvl="1" indent="-285750">
              <a:buFont typeface="Arial" pitchFamily="34" charset="0"/>
              <a:buChar char="•"/>
            </a:pPr>
            <a:r>
              <a:rPr lang="en-US" dirty="0" smtClean="0">
                <a:solidFill>
                  <a:schemeClr val="tx1"/>
                </a:solidFill>
              </a:rPr>
              <a:t>The average heart rate was 72 </a:t>
            </a:r>
            <a:r>
              <a:rPr lang="en-US" dirty="0" err="1" smtClean="0">
                <a:solidFill>
                  <a:schemeClr val="tx1"/>
                </a:solidFill>
              </a:rPr>
              <a:t>bpm</a:t>
            </a:r>
            <a:r>
              <a:rPr lang="en-US" dirty="0" smtClean="0">
                <a:solidFill>
                  <a:schemeClr val="tx1"/>
                </a:solidFill>
              </a:rPr>
              <a:t>, with stable variability (standard deviation of 8 </a:t>
            </a:r>
            <a:r>
              <a:rPr lang="en-US" dirty="0" err="1" smtClean="0">
                <a:solidFill>
                  <a:schemeClr val="tx1"/>
                </a:solidFill>
              </a:rPr>
              <a:t>bpm</a:t>
            </a:r>
            <a:r>
              <a:rPr lang="en-US" dirty="0" smtClean="0">
                <a:solidFill>
                  <a:schemeClr val="tx1"/>
                </a:solidFill>
              </a:rPr>
              <a:t>). Participants with severe obstructive sleep apnea (OSA) showed notably higher heart rates, averaging 85 </a:t>
            </a:r>
            <a:r>
              <a:rPr lang="en-US" dirty="0" err="1" smtClean="0">
                <a:solidFill>
                  <a:schemeClr val="tx1"/>
                </a:solidFill>
              </a:rPr>
              <a:t>bpm</a:t>
            </a:r>
            <a:r>
              <a:rPr lang="en-US" dirty="0" smtClean="0">
                <a:solidFill>
                  <a:schemeClr val="tx1"/>
                </a:solidFill>
              </a:rPr>
              <a:t>, underscoring the cardiovascular strain caused by apnea events.</a:t>
            </a:r>
          </a:p>
          <a:p>
            <a:pPr marL="742950" lvl="1" indent="-285750">
              <a:buFont typeface="Arial" pitchFamily="34" charset="0"/>
              <a:buChar char="•"/>
            </a:pPr>
            <a:r>
              <a:rPr lang="en-US" dirty="0" smtClean="0">
                <a:solidFill>
                  <a:schemeClr val="tx1"/>
                </a:solidFill>
              </a:rPr>
              <a:t>Blood Volume Pulse (BVP) averaged 0.45 but exhibited significant fluctuations, especially in those with severe OSA, reflecting blood flow disruptions linked to respiratory events.</a:t>
            </a:r>
          </a:p>
          <a:p>
            <a:pPr marL="742950" lvl="1" indent="-285750">
              <a:buFont typeface="Arial" pitchFamily="34" charset="0"/>
              <a:buChar char="•"/>
            </a:pPr>
            <a:r>
              <a:rPr lang="en-US" dirty="0" smtClean="0">
                <a:solidFill>
                  <a:schemeClr val="tx1"/>
                </a:solidFill>
              </a:rPr>
              <a:t>A strong negative correlation (-0.75) between heart rate and BVP indicates that as heart rate rises during apnea episodes, BVP decreases, highlighting physiological stress responses.</a:t>
            </a:r>
          </a:p>
          <a:p>
            <a:pPr marL="342900" indent="-342900">
              <a:buFont typeface="Arial" pitchFamily="34" charset="0"/>
              <a:buChar char="•"/>
            </a:pPr>
            <a:endParaRPr lang="en-US" sz="2000" dirty="0">
              <a:solidFill>
                <a:schemeClr val="tx1"/>
              </a:solidFill>
              <a:latin typeface="Comic Sans MS"/>
            </a:endParaRPr>
          </a:p>
        </p:txBody>
      </p:sp>
    </p:spTree>
    <p:extLst>
      <p:ext uri="{BB962C8B-B14F-4D97-AF65-F5344CB8AC3E}">
        <p14:creationId xmlns:p14="http://schemas.microsoft.com/office/powerpoint/2010/main" val="1375525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31323" y="533400"/>
            <a:ext cx="8890000" cy="5823626"/>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smtClean="0">
              <a:solidFill>
                <a:schemeClr val="tx1"/>
              </a:solidFill>
            </a:endParaRPr>
          </a:p>
          <a:p>
            <a:endParaRPr lang="en-US" b="1" dirty="0">
              <a:solidFill>
                <a:schemeClr val="tx1"/>
              </a:solidFill>
            </a:endParaRPr>
          </a:p>
          <a:p>
            <a:r>
              <a:rPr lang="en-US" b="1" dirty="0" smtClean="0">
                <a:solidFill>
                  <a:schemeClr val="tx1"/>
                </a:solidFill>
              </a:rPr>
              <a:t>2.   Demographics and Sleep Metrics:</a:t>
            </a:r>
            <a:endParaRPr lang="en-US" dirty="0" smtClean="0">
              <a:solidFill>
                <a:schemeClr val="tx1"/>
              </a:solidFill>
            </a:endParaRPr>
          </a:p>
          <a:p>
            <a:pPr marL="742950" lvl="1" indent="-285750">
              <a:buFont typeface="Arial" pitchFamily="34" charset="0"/>
              <a:buChar char="•"/>
            </a:pPr>
            <a:r>
              <a:rPr lang="en-US" dirty="0" smtClean="0">
                <a:solidFill>
                  <a:schemeClr val="tx1"/>
                </a:solidFill>
              </a:rPr>
              <a:t>Participants ranged in age from 21 to 87 years, with an average age of 56 years. Most fell within the 42–70 age group, a demographic commonly affected by sleep apnea.</a:t>
            </a:r>
          </a:p>
          <a:p>
            <a:pPr marL="742950" lvl="1" indent="-285750">
              <a:buFont typeface="Arial" pitchFamily="34" charset="0"/>
              <a:buChar char="•"/>
            </a:pPr>
            <a:r>
              <a:rPr lang="en-US" dirty="0" smtClean="0">
                <a:solidFill>
                  <a:schemeClr val="tx1"/>
                </a:solidFill>
              </a:rPr>
              <a:t>The Obstructive Apnea Hypopnea Index (OAHI) and Apnea Hypopnea Index (AHI) showed wide variability, with means of 33.66 and 19.39, respectively, ranging from mild to severe cases (maximum OAHI = 72, maximum AHI = 178).</a:t>
            </a:r>
          </a:p>
          <a:p>
            <a:pPr marL="742950" lvl="1" indent="-285750">
              <a:buFont typeface="Arial" pitchFamily="34" charset="0"/>
              <a:buChar char="•"/>
            </a:pPr>
            <a:r>
              <a:rPr lang="en-US" dirty="0" smtClean="0">
                <a:solidFill>
                  <a:schemeClr val="tx1"/>
                </a:solidFill>
              </a:rPr>
              <a:t>Average oxygen saturation (Mean SaO2) was 95%, but some participants experienced significant drops (as low as 85%), particularly those with severe apnea.</a:t>
            </a:r>
          </a:p>
          <a:p>
            <a:endParaRPr lang="en-US" dirty="0" smtClean="0">
              <a:solidFill>
                <a:schemeClr val="tx1"/>
              </a:solidFill>
            </a:endParaRPr>
          </a:p>
          <a:p>
            <a:r>
              <a:rPr lang="en-US" b="1" dirty="0" smtClean="0">
                <a:solidFill>
                  <a:schemeClr val="tx1"/>
                </a:solidFill>
              </a:rPr>
              <a:t>3.    Sleep Disruptions:</a:t>
            </a:r>
            <a:endParaRPr lang="en-US" dirty="0" smtClean="0">
              <a:solidFill>
                <a:schemeClr val="tx1"/>
              </a:solidFill>
            </a:endParaRPr>
          </a:p>
          <a:p>
            <a:pPr marL="742950" lvl="1" indent="-285750">
              <a:buFont typeface="Arial" pitchFamily="34" charset="0"/>
              <a:buChar char="•"/>
            </a:pPr>
            <a:r>
              <a:rPr lang="en-US" dirty="0" smtClean="0">
                <a:solidFill>
                  <a:schemeClr val="tx1"/>
                </a:solidFill>
              </a:rPr>
              <a:t>The Arousal Index varied widely, with some participants experiencing over 130 arousal events per hour, reflecting frequent interruptions in sleep.</a:t>
            </a:r>
          </a:p>
          <a:p>
            <a:pPr marL="742950" lvl="1" indent="-285750">
              <a:buFont typeface="Arial" pitchFamily="34" charset="0"/>
              <a:buChar char="•"/>
            </a:pPr>
            <a:r>
              <a:rPr lang="en-US" dirty="0" smtClean="0">
                <a:solidFill>
                  <a:schemeClr val="tx1"/>
                </a:solidFill>
              </a:rPr>
              <a:t>Obstructive Sleep Apnea (OSA) emerged as the most prevalent condition, affecting 20 participants, further emphasizing its impact on health.</a:t>
            </a:r>
          </a:p>
          <a:p>
            <a:r>
              <a:rPr lang="en-US" dirty="0" smtClean="0">
                <a:solidFill>
                  <a:schemeClr val="tx1"/>
                </a:solidFill>
              </a:rPr>
              <a:t>These findings provide a comprehensive overview of how sleep disorders influence cardiovascular health, oxygen saturation, and overall sleep quality, offering critical insights into the physiological and demographic variability within the cohort.</a:t>
            </a:r>
          </a:p>
          <a:p>
            <a:endParaRPr lang="en-US" dirty="0" smtClean="0">
              <a:solidFill>
                <a:schemeClr val="tx1"/>
              </a:solidFill>
            </a:endParaRPr>
          </a:p>
          <a:p>
            <a:endParaRPr lang="en-US" dirty="0" smtClean="0">
              <a:solidFill>
                <a:schemeClr val="tx1"/>
              </a:solidFill>
            </a:endParaRPr>
          </a:p>
        </p:txBody>
      </p:sp>
    </p:spTree>
    <p:extLst>
      <p:ext uri="{BB962C8B-B14F-4D97-AF65-F5344CB8AC3E}">
        <p14:creationId xmlns:p14="http://schemas.microsoft.com/office/powerpoint/2010/main" val="1359960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52400" y="635000"/>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smtClean="0">
                <a:latin typeface="Comic Sans MS"/>
              </a:rPr>
              <a:t>Conclusion</a:t>
            </a:r>
            <a:endParaRPr lang="en-US" sz="3200" b="1">
              <a:latin typeface="Comic Sans MS"/>
            </a:endParaRPr>
          </a:p>
        </p:txBody>
      </p:sp>
      <p:sp>
        <p:nvSpPr>
          <p:cNvPr id="3" name="Rounded Rectangle 2"/>
          <p:cNvSpPr/>
          <p:nvPr/>
        </p:nvSpPr>
        <p:spPr>
          <a:xfrm>
            <a:off x="152400" y="1905000"/>
            <a:ext cx="8890000" cy="38100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r>
              <a:rPr lang="en-US" sz="2000" b="1" dirty="0" smtClean="0">
                <a:solidFill>
                  <a:schemeClr val="tx1"/>
                </a:solidFill>
              </a:rPr>
              <a:t>   </a:t>
            </a:r>
            <a:r>
              <a:rPr lang="en-US" sz="2000" dirty="0" smtClean="0">
                <a:solidFill>
                  <a:schemeClr val="tx1"/>
                </a:solidFill>
              </a:rPr>
              <a:t>This study highlights the profound impact of sleep-disordered breathing on physiological and cardiovascular health. Participants with severe sleep apnea exhibited disrupted heart activity, lower oxygen saturation levels, and frequent arousals during sleep, reflecting significant physiological strain. Key metrics, such as heart rate variability and blood volume pulse, showed clear patterns of stress and disruption, particularly in those with obstructive sleep apnea.</a:t>
            </a:r>
          </a:p>
          <a:p>
            <a:r>
              <a:rPr lang="en-US" sz="2000" dirty="0" smtClean="0">
                <a:solidFill>
                  <a:schemeClr val="tx1"/>
                </a:solidFill>
              </a:rPr>
              <a:t>The findings underscore the importance of monitoring sleep disorders to better understand their effects on overall health. By leveraging wearable technology and robust data analysis, this research paves the way for more effective, non-invasive sleep monitoring solutions that could improve early detection and management of sleep-related conditions.</a:t>
            </a:r>
          </a:p>
          <a:p>
            <a:endParaRPr lang="en-US" sz="2000" dirty="0">
              <a:solidFill>
                <a:schemeClr val="tx1"/>
              </a:solidFill>
              <a:latin typeface="Comic Sans MS"/>
            </a:endParaRPr>
          </a:p>
        </p:txBody>
      </p:sp>
    </p:spTree>
    <p:extLst>
      <p:ext uri="{BB962C8B-B14F-4D97-AF65-F5344CB8AC3E}">
        <p14:creationId xmlns:p14="http://schemas.microsoft.com/office/powerpoint/2010/main" val="3664351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52400" y="381000"/>
            <a:ext cx="8890000" cy="762000"/>
          </a:xfrm>
          <a:prstGeom prst="roundRect">
            <a:avLst/>
          </a:prstGeom>
          <a:solidFill>
            <a:srgbClr val="FFB6C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smtClean="0">
                <a:latin typeface="Comic Sans MS"/>
              </a:rPr>
              <a:t>Discussion</a:t>
            </a:r>
            <a:endParaRPr lang="en-US" sz="3200" b="1" dirty="0">
              <a:latin typeface="Comic Sans MS"/>
            </a:endParaRPr>
          </a:p>
        </p:txBody>
      </p:sp>
      <p:sp>
        <p:nvSpPr>
          <p:cNvPr id="3" name="Rounded Rectangle 2"/>
          <p:cNvSpPr/>
          <p:nvPr/>
        </p:nvSpPr>
        <p:spPr>
          <a:xfrm>
            <a:off x="152400" y="1371600"/>
            <a:ext cx="8890000" cy="5334000"/>
          </a:xfrm>
          <a:prstGeom prst="roundRect">
            <a:avLst/>
          </a:prstGeom>
          <a:solidFill>
            <a:srgbClr val="FFF0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r>
              <a:rPr lang="en-US" sz="2000" dirty="0" smtClean="0">
                <a:solidFill>
                  <a:schemeClr val="tx1"/>
                </a:solidFill>
              </a:rPr>
              <a:t>   This study highlights the significant physiological impacts of sleep disorders, particularly obstructive sleep apnea (OSA), on cardiovascular and autonomic function. The findings, such as elevated heart rates and disrupted blood volume pulses in participants with severe OSA, align with known research linking apnea events to increased cardiovascular strain. Additionally, the variability in oxygen saturation and frequent sleep arousals emphasize the toll of apnea on sleep quality and overall health.</a:t>
            </a:r>
          </a:p>
          <a:p>
            <a:r>
              <a:rPr lang="en-US" sz="2000" dirty="0" smtClean="0">
                <a:solidFill>
                  <a:schemeClr val="tx1"/>
                </a:solidFill>
              </a:rPr>
              <a:t>    While the dataset provides valuable insights, it also has limitations, such as the variability in participant demographics and potential underrepresentation of certain sleep conditions. These factors should be considered when generalizing the results. Future research could leverage this data to refine wearable technology algorithms, improve early detection of sleep disorders, and explore interventions aimed at mitigating the long-term effects of sleep apnea on health.</a:t>
            </a:r>
          </a:p>
          <a:p>
            <a:r>
              <a:rPr lang="en-US" sz="2000" dirty="0" smtClean="0">
                <a:solidFill>
                  <a:schemeClr val="tx1"/>
                </a:solidFill>
              </a:rPr>
              <a:t>    By bridging data-driven insights with practical applications, this work contributes to the growing field of personalized sleep health solutions.</a:t>
            </a:r>
          </a:p>
          <a:p>
            <a:endParaRPr lang="en-US" sz="2000" dirty="0">
              <a:solidFill>
                <a:schemeClr val="tx1"/>
              </a:solidFill>
              <a:latin typeface="Comic Sans MS"/>
            </a:endParaRPr>
          </a:p>
        </p:txBody>
      </p:sp>
    </p:spTree>
    <p:extLst>
      <p:ext uri="{BB962C8B-B14F-4D97-AF65-F5344CB8AC3E}">
        <p14:creationId xmlns:p14="http://schemas.microsoft.com/office/powerpoint/2010/main" val="510335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27454" y="838200"/>
            <a:ext cx="4089084" cy="92333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n-US" sz="5400" b="1" cap="none" spc="0"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THE END</a:t>
            </a:r>
            <a:endParaRPr lang="en-US" sz="5400" b="1" cap="none" spc="0"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
        <p:nvSpPr>
          <p:cNvPr id="4" name="TextBox 3"/>
          <p:cNvSpPr txBox="1"/>
          <p:nvPr/>
        </p:nvSpPr>
        <p:spPr>
          <a:xfrm>
            <a:off x="3448796" y="1761530"/>
            <a:ext cx="2210733" cy="369332"/>
          </a:xfrm>
          <a:prstGeom prst="rect">
            <a:avLst/>
          </a:prstGeom>
          <a:noFill/>
        </p:spPr>
        <p:txBody>
          <a:bodyPr wrap="none" rtlCol="0">
            <a:spAutoFit/>
          </a:bodyPr>
          <a:lstStyle/>
          <a:p>
            <a:r>
              <a:rPr lang="en-US" dirty="0" smtClean="0">
                <a:latin typeface="Cambria Math" pitchFamily="18" charset="0"/>
                <a:ea typeface="Cambria Math" pitchFamily="18" charset="0"/>
              </a:rPr>
              <a:t>Thanks for listening!</a:t>
            </a:r>
            <a:endParaRPr lang="en-US" dirty="0">
              <a:latin typeface="Cambria Math" pitchFamily="18" charset="0"/>
              <a:ea typeface="Cambria Math"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496" y="2438400"/>
            <a:ext cx="41910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3313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2428</TotalTime>
  <Words>1737</Words>
  <Application>Microsoft Office PowerPoint</Application>
  <PresentationFormat>On-screen Show (4:3)</PresentationFormat>
  <Paragraphs>80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24</cp:revision>
  <dcterms:created xsi:type="dcterms:W3CDTF">2024-12-07T13:18:55Z</dcterms:created>
  <dcterms:modified xsi:type="dcterms:W3CDTF">2024-12-09T05:47:28Z</dcterms:modified>
</cp:coreProperties>
</file>